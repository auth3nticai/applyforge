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ApplyForge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C7D2FE"/>
                </a:solidFill>
                <a:latin typeface="Calibri"/>
              </a:rPr>
              <a:t>An honest AI job-search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CSE 552 — Capstone Project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C7D2FE"/>
                </a:solidFill>
                <a:latin typeface="Calibri"/>
              </a:rPr>
              <a:t>Full-stack AI web app · Next.js + FastAPI + PostgreSQL + Claude · Docker Compose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C7D2FE"/>
                </a:solidFill>
                <a:latin typeface="Calibri"/>
              </a:rPr>
              <a:t>Tray Branch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problem &amp;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What you built — the problem, the user,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  <a:latin typeface="Calibri"/>
              </a:rPr>
              <a:t>The user: </a:t>
            </a:r>
            <a:r>
              <a:rPr sz="1800" b="0">
                <a:solidFill>
                  <a:srgbClr val="1F2937"/>
                </a:solidFill>
                <a:latin typeface="Calibri"/>
              </a:rPr>
              <a:t>a software engineer job-hunting, drowning in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F2937"/>
                </a:solidFill>
                <a:latin typeface="Calibri"/>
              </a:rPr>
              <a:t>• The problem: </a:t>
            </a:r>
            <a:r>
              <a:rPr sz="1600">
                <a:solidFill>
                  <a:srgbClr val="1F2937"/>
                </a:solidFill>
                <a:latin typeface="Calibri"/>
              </a:rPr>
              <a:t>tools like RoboApply/ApplyBlast auto-blast hundreds of applications — recruiters ignore the spam, and it violates job-site terms.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2937"/>
                </a:solidFill>
                <a:latin typeface="Calibri"/>
              </a:rPr>
              <a:t>• The insight (from research): </a:t>
            </a:r>
            <a:r>
              <a:rPr sz="1600">
                <a:solidFill>
                  <a:srgbClr val="1F2937"/>
                </a:solidFill>
                <a:latin typeface="Calibri"/>
              </a:rPr>
              <a:t>the “an AI robot rejects 75% of resumes” claim is a myth (traces to a defunct 2012 vendor). The real levers are honest tailoring, timing, and direct recruiter contact.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2937"/>
                </a:solidFill>
                <a:latin typeface="Calibri"/>
              </a:rPr>
              <a:t>• The solution: </a:t>
            </a:r>
            <a:r>
              <a:rPr sz="1600">
                <a:solidFill>
                  <a:srgbClr val="1F2937"/>
                </a:solidFill>
                <a:latin typeface="Calibri"/>
              </a:rPr>
              <a:t>ApplyForge tells you your REAL match for a role, tailors your resume using only what's actually true about you, and helps you reach a real human.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Why it's “AI-powered”: </a:t>
            </a:r>
            <a:r>
              <a:rPr sz="1500" b="0">
                <a:solidFill>
                  <a:srgbClr val="1F2937"/>
                </a:solidFill>
                <a:latin typeface="Calibri"/>
              </a:rPr>
              <a:t>six Claude endpoints inject the user's own profile + job + pipeline as context — match scoring, resume tailoring, cover letters, recruiter outreach, and a tool-using agent. Not a generic chatbot.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Three-tier stack, containerized with Docker Compose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Browser  ──HTTP──▶  FastAPI  ──SQLAlchemy──▶  PostgreSQL 16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  :3000              :8000                       :5432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Next.js 14 (App Router, TS, Tailwind)   →   one typed fetch layer  app/lib/api.ts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FastAPI + Pydantic + SQLAlchemy         →   every Claude call isolated in  ai.py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Claude API: Sonnet 4.6 (reasoning) + Haiku 4.5 (transforms)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docker compose up --build  →  db (healthcheck) → backend (auto-seed) →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F46E5"/>
                </a:solidFill>
                <a:latin typeface="Calibri"/>
              </a:rPr>
              <a:t>Separation of concerns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Every Claude call lives in backend/ai.py; every network call in frontend/app/lib/api.ts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Job feed isolated in services/job_feed.py; file parsing in services/resume_text.py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Data persists in a Docker volume (pgdata); seed runs only when the DB is empty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7 SQLAlchemy models, PostgreSQL — well beyond the 2-model minimum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2286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Profile (1) ──&lt; Application (many) &gt;── Job (many)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                    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                    ├──&lt; GeneratedArtifact   (match reports, cover letters, tailored resumes)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                    └──&lt; ApplicationEvent     (pipeline audit log)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Profile (1) ──&lt; Outreach (many) &gt;── Recruiter (many)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sz="1500">
                <a:solidFill>
                  <a:srgbClr val="1F2937"/>
                </a:solidFill>
                <a:latin typeface="Calibri"/>
              </a:rPr>
              <a:t>• Application </a:t>
            </a:r>
            <a:r>
              <a:rPr sz="1500">
                <a:solidFill>
                  <a:srgbClr val="1F2937"/>
                </a:solidFill>
                <a:latin typeface="Calibri"/>
              </a:rPr>
              <a:t>is the core CRUD resource: create (track a job), read, update (advance/reject status), delete.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1F2937"/>
                </a:solidFill>
                <a:latin typeface="Calibri"/>
              </a:rPr>
              <a:t>• Relationships: </a:t>
            </a:r>
            <a:r>
              <a:rPr sz="1500">
                <a:solidFill>
                  <a:srgbClr val="1F2937"/>
                </a:solidFill>
                <a:latin typeface="Calibri"/>
              </a:rPr>
              <a:t>one-to-many Profile→Application→Job, Recruiter→Outreach, plus artifacts &amp; an append-only event log.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1F2937"/>
                </a:solidFill>
                <a:latin typeface="Calibri"/>
              </a:rPr>
              <a:t>• Pipeline state machine: </a:t>
            </a:r>
            <a:r>
              <a:rPr sz="1500">
                <a:solidFill>
                  <a:srgbClr val="1F2937"/>
                </a:solidFill>
                <a:latin typeface="Calibri"/>
              </a:rPr>
              <a:t>SAVED → APPLIED → INTERVIEWING → OFFER, with REJECTED as a terminal branch (forward-only, validated server-side).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Dashboard — CRUD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frontend page 1 of 6 · shared nav · responsive</a:t>
            </a:r>
          </a:p>
        </p:txBody>
      </p:sp>
      <p:pic>
        <p:nvPicPr>
          <p:cNvPr id="5" name="Picture 4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354" y="1371600"/>
            <a:ext cx="3351691" cy="5120640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80960" y="14630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F46E5"/>
                </a:solidFill>
                <a:latin typeface="Calibri"/>
              </a:rPr>
              <a:t>What this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011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Stat cards</a:t>
            </a:r>
            <a:r>
              <a:rPr sz="1400">
                <a:solidFill>
                  <a:srgbClr val="1F2937"/>
                </a:solidFill>
                <a:latin typeface="Calibri"/>
              </a:rPr>
              <a:t> from a live /stats aggregate: 5 applications, 71% avg match, outreach, jobs.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Pipeline board</a:t>
            </a:r>
            <a:r>
              <a:rPr sz="1400">
                <a:solidFill>
                  <a:srgbClr val="1F2937"/>
                </a:solidFill>
                <a:latin typeface="Calibri"/>
              </a:rPr>
              <a:t> — every tracked application grouped by its lifecycle stage.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Color-coded match badges</a:t>
            </a:r>
            <a:r>
              <a:rPr sz="1400">
                <a:solidFill>
                  <a:srgbClr val="1F2937"/>
                </a:solidFill>
                <a:latin typeface="Calibri"/>
              </a:rPr>
              <a:t> (green = strong, red = stretch) from the AI analysis.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Shared top nav</a:t>
            </a:r>
            <a:r>
              <a:rPr sz="1400">
                <a:solidFill>
                  <a:srgbClr val="1F2937"/>
                </a:solidFill>
                <a:latin typeface="Calibri"/>
              </a:rPr>
              <a:t> across all 6 pages; fully responsive Tailwind layout.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Jobs — real openings from public ATS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page 2 · external API integration</a:t>
            </a:r>
          </a:p>
        </p:txBody>
      </p:sp>
      <p:pic>
        <p:nvPicPr>
          <p:cNvPr id="5" name="Picture 4" descr="03-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354" y="1371600"/>
            <a:ext cx="3351691" cy="5120640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80960" y="14630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F46E5"/>
                </a:solidFill>
                <a:latin typeface="Calibri"/>
              </a:rPr>
              <a:t>What this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011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Live job feed</a:t>
            </a:r>
            <a:r>
              <a:rPr sz="1400">
                <a:solidFill>
                  <a:srgbClr val="1F2937"/>
                </a:solidFill>
                <a:latin typeface="Calibri"/>
              </a:rPr>
              <a:t> pulled from Greenhouse / Lever / Ashby public APIs — no scraping, no keys, no ToS risk.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Ranked</a:t>
            </a:r>
            <a:r>
              <a:rPr sz="1400">
                <a:solidFill>
                  <a:srgbClr val="1F2937"/>
                </a:solidFill>
                <a:latin typeface="Calibri"/>
              </a:rPr>
              <a:t> by a quick keyword match against the user's profile.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“Track”</a:t>
            </a:r>
            <a:r>
              <a:rPr sz="1400">
                <a:solidFill>
                  <a:srgbClr val="1F2937"/>
                </a:solidFill>
                <a:latin typeface="Calibri"/>
              </a:rPr>
              <a:t> creates an Application (the CRUD create path).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Paste-a-JD</a:t>
            </a:r>
            <a:r>
              <a:rPr sz="1400">
                <a:solidFill>
                  <a:srgbClr val="1F2937"/>
                </a:solidFill>
                <a:latin typeface="Calibri"/>
              </a:rPr>
              <a:t> fallback + “Sync live jobs” button.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Application detail — the AI 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page 3 · structured output + generation, both using app data</a:t>
            </a:r>
          </a:p>
        </p:txBody>
      </p:sp>
      <p:pic>
        <p:nvPicPr>
          <p:cNvPr id="5" name="Picture 4" descr="04-application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354" y="1371600"/>
            <a:ext cx="3351691" cy="5120640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80960" y="14630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F46E5"/>
                </a:solidFill>
                <a:latin typeface="Calibri"/>
              </a:rPr>
              <a:t>What this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011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Match analysis</a:t>
            </a:r>
            <a:r>
              <a:rPr sz="1400">
                <a:solidFill>
                  <a:srgbClr val="1F2937"/>
                </a:solidFill>
                <a:latin typeface="Calibri"/>
              </a:rPr>
              <a:t> (Claude Sonnet, structured JSON): honest 84% score, matched vs MISSING keywords, strengths &amp; gaps.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Cover letter</a:t>
            </a:r>
            <a:r>
              <a:rPr sz="1400">
                <a:solidFill>
                  <a:srgbClr val="1F2937"/>
                </a:solidFill>
                <a:latin typeface="Calibri"/>
              </a:rPr>
              <a:t> generated from the user's real resume — note it cites actual projects &amp; metrics, never invented.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Truthful tailoring</a:t>
            </a:r>
            <a:r>
              <a:rPr sz="1400">
                <a:solidFill>
                  <a:srgbClr val="1F2937"/>
                </a:solidFill>
                <a:latin typeface="Calibri"/>
              </a:rPr>
              <a:t> guardrail enforced in the prompt layer.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Pipeline controls</a:t>
            </a:r>
            <a:r>
              <a:rPr sz="1400">
                <a:solidFill>
                  <a:srgbClr val="1F2937"/>
                </a:solidFill>
                <a:latin typeface="Calibri"/>
              </a:rPr>
              <a:t> + append-only event timeline (audit log).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Profile — AI resume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page 4 · structured extraction from unstructured input</a:t>
            </a:r>
          </a:p>
        </p:txBody>
      </p:sp>
      <p:pic>
        <p:nvPicPr>
          <p:cNvPr id="5" name="Picture 4" descr="02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354" y="1371600"/>
            <a:ext cx="3351691" cy="5120640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80960" y="14630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F46E5"/>
                </a:solidFill>
                <a:latin typeface="Calibri"/>
              </a:rPr>
              <a:t>What this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011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Upload a PDF/DOCX/TXT resume</a:t>
            </a:r>
            <a:r>
              <a:rPr sz="1400">
                <a:solidFill>
                  <a:srgbClr val="1F2937"/>
                </a:solidFill>
                <a:latin typeface="Calibri"/>
              </a:rPr>
              <a:t> → Claude extracts a structured profile (skills, experience, headline).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This is the source of truth</a:t>
            </a:r>
            <a:r>
              <a:rPr sz="1400">
                <a:solidFill>
                  <a:srgbClr val="1F2937"/>
                </a:solidFill>
                <a:latin typeface="Calibri"/>
              </a:rPr>
              <a:t> every other AI feature is grounded in.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Full CRUD edit</a:t>
            </a:r>
            <a:r>
              <a:rPr sz="1400">
                <a:solidFill>
                  <a:srgbClr val="1F2937"/>
                </a:solidFill>
                <a:latin typeface="Calibri"/>
              </a:rPr>
              <a:t> of profile fields, skills, and links.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Loading / error / saving states</a:t>
            </a:r>
            <a:r>
              <a:rPr sz="1400">
                <a:solidFill>
                  <a:srgbClr val="1F2937"/>
                </a:solidFill>
                <a:latin typeface="Calibri"/>
              </a:rPr>
              <a:t> throughout.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Recruiters — AI outreach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page 5 · personalized content generation</a:t>
            </a:r>
          </a:p>
        </p:txBody>
      </p:sp>
      <p:pic>
        <p:nvPicPr>
          <p:cNvPr id="5" name="Picture 4" descr="05-recrui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354" y="1371600"/>
            <a:ext cx="3351691" cy="5120640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80960" y="14630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F46E5"/>
                </a:solidFill>
                <a:latin typeface="Calibri"/>
              </a:rPr>
              <a:t>What this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011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Seeded niche recruiters</a:t>
            </a:r>
            <a:r>
              <a:rPr sz="1400">
                <a:solidFill>
                  <a:srgbClr val="1F2937"/>
                </a:solidFill>
                <a:latin typeface="Calibri"/>
              </a:rPr>
              <a:t> with specialty tags.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“Generate outreach”</a:t>
            </a:r>
            <a:r>
              <a:rPr sz="1400">
                <a:solidFill>
                  <a:srgbClr val="1F2937"/>
                </a:solidFill>
                <a:latin typeface="Calibri"/>
              </a:rPr>
              <a:t> → Claude writes a 50–125 word note referencing a REAL accomplishment + the recruiter's niche, with an opt-out courtesy.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Sending is simulated</a:t>
            </a:r>
            <a:r>
              <a:rPr sz="1400">
                <a:solidFill>
                  <a:srgbClr val="1F2937"/>
                </a:solidFill>
                <a:latin typeface="Calibri"/>
              </a:rPr>
              <a:t> — honest by design, no spam.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Outreach history</a:t>
            </a:r>
            <a:r>
              <a:rPr sz="1400">
                <a:solidFill>
                  <a:srgbClr val="1F2937"/>
                </a:solidFill>
                <a:latin typeface="Calibri"/>
              </a:rPr>
              <a:t> persists per recruiter.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Copilot — AI agent with tool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page 6 · multi-turn agent that reads your data</a:t>
            </a:r>
          </a:p>
        </p:txBody>
      </p:sp>
      <p:pic>
        <p:nvPicPr>
          <p:cNvPr id="5" name="Picture 4" descr="06-c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354" y="1371600"/>
            <a:ext cx="3351691" cy="5120640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80960" y="14630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F46E5"/>
                </a:solidFill>
                <a:latin typeface="Calibri"/>
              </a:rPr>
              <a:t>What this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0116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A real tool-using agent</a:t>
            </a:r>
            <a:r>
              <a:rPr sz="1400">
                <a:solidFill>
                  <a:srgbClr val="1F2937"/>
                </a:solidFill>
                <a:latin typeface="Calibri"/>
              </a:rPr>
              <a:t> (Claude Sonnet): tools get_applications, get_application_detail, get_profile.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Grounded in live data</a:t>
            </a:r>
            <a:r>
              <a:rPr sz="1400">
                <a:solidFill>
                  <a:srgbClr val="1F2937"/>
                </a:solidFill>
                <a:latin typeface="Calibri"/>
              </a:rPr>
              <a:t> — asks “which roles am I weakest for?” and reads actual match scores to answer.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Multi-turn</a:t>
            </a:r>
            <a:r>
              <a:rPr sz="1400">
                <a:solidFill>
                  <a:srgbClr val="1F2937"/>
                </a:solidFill>
                <a:latin typeface="Calibri"/>
              </a:rPr>
              <a:t> conversation with suggested prompts.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2937"/>
                </a:solidFill>
                <a:latin typeface="Calibri"/>
              </a:rPr>
              <a:t>• Shows which tools were called</a:t>
            </a:r>
            <a:r>
              <a:rPr sz="1400">
                <a:solidFill>
                  <a:srgbClr val="1F2937"/>
                </a:solidFill>
                <a:latin typeface="Calibri"/>
              </a:rPr>
              <a:t> under each reply.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AI integration — 6 Claude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All inject the user's app data; cost-routed Sonnet / Haiku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657600"/>
                <a:gridCol w="3017520"/>
              </a:tblGrid>
              <a:tr h="5486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Claude technique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Context injected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POST /profile/import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Structured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uploaded resume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POST /applications/{id}/analyze  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Structured output (JSON)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profile + job description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POST /applications/{id}/cover-letter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Generation (truthful)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profile + job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POST /applications/{id}/tailor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Generation, structured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resume bullets + job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POST /outreach/generate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Generation (personalized)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profile + recruiter + job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POST /ai/chat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Tool use / agent (multi-turn)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whole pipeline via 3 tools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Meets “at least one of” in spades: </a:t>
            </a:r>
            <a:r>
              <a:rPr sz="1400" b="0">
                <a:solidFill>
                  <a:srgbClr val="1F2937"/>
                </a:solidFill>
                <a:latin typeface="Calibri"/>
              </a:rPr>
              <a:t>structured output (analyze), tool use (chat agent), AND multi-turn conversation — all three.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Technical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The copilot is a real tool-use agent — not a scripted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backend/ai.py:copilot_chat runs a genuine agent loop with the Claude Messages API.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Claude decides which tool to call; the backend executes it against PostgreSQL and feeds the JSON result back; the loop repeats until Claude has enough to answer.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Tools: get_applications, get_application_detail, get_profile — so answers are grounded in the user's live pipeline, never guessed.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Verified live: “which application has the highest match?” → called get_applications → correctly answered Brightwave (88), edging Stripe (84).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7899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Honesty enforced in code: </a:t>
            </a:r>
            <a:r>
              <a:rPr sz="1500" b="0">
                <a:solidFill>
                  <a:srgbClr val="1F2937"/>
                </a:solidFill>
                <a:latin typeface="Calibri"/>
              </a:rPr>
              <a:t>a shared TRUTHFUL_GUARDRAIL system prompt is injected into every generation call, and the resume tailor returns a per-bullet “grounded” flag. The integrity claim is enforced at the prompt layer, not just marketing.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Minimum requirements — all 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143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Every checkbox from the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4F46E5"/>
                </a:solidFill>
              </a:rPr>
              <a:t>FRONTEND (Next.js)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6 pages with shared nav (need 4+)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Full CRUD UI for Applications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AI features with working UI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Loading &amp; error states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Responsive design + Dockerfile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F46E5"/>
                </a:solidFill>
              </a:rPr>
              <a:t>BACKEND (FastAPI)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~20 endpoints (need 6+)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7 models w/ relationships (need 2+)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6 AI endpoints (need 2+)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CORS configured + Dockerfile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4F46E5"/>
                </a:solidFill>
              </a:rPr>
              <a:t>DATABASE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PostgreSQL 16 via SQLAlchemy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Persists via Docker volume (pgdata)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F46E5"/>
                </a:solidFill>
              </a:rPr>
              <a:t>DEPLOYMENT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docker-compose.yml wires 3 services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Starts with docker compose up --build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.env gitignored (.dockerignore strips it)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F46E5"/>
                </a:solidFill>
              </a:rPr>
              <a:t>AI INTEGRATION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Claude API (Sonnet 4.6 + Haiku 4.5)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AI has user data via context injection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5803D"/>
                </a:solidFill>
              </a:rPr>
              <a:t>✓ </a:t>
            </a:r>
            <a:r>
              <a:rPr sz="1300">
                <a:solidFill>
                  <a:srgbClr val="1F2937"/>
                </a:solidFill>
              </a:rPr>
              <a:t>Structured output + tool use + multi-turn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Grading rubric — where each point is earned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31520"/>
                <a:gridCol w="6675120"/>
              </a:tblGrid>
              <a:tr h="5486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Criteria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Pts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Evidence in ApplyForge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Core CRUD works in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803D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Applications track/advance/reject/delete + Profile edit, live via docker 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AI feature meaningful &amp; uses app data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803D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6 Claude endpoints inject profile+job+pipeline (analyze, cover letter, tailor, outreach, agent)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All major flows work without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803D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Smoke-tested live; 14 backend tests pass; AI calls verified end-to-end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Frontend: Next.js, multi-page, responsive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803D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6 pages, shared nav, Tailwind responsive, loading/error states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Backend: FastAPI, 2+ models, organized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803D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7 models, ~20 endpoints, ai.py / services / routes separation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Database: Postgres, persists on restart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803D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PostgreSQL 16 + SQLAlchemy, pgdata volume, seed-only-if-empty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AI: Claude integrated thoughtfully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803D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Sonnet+Haiku cost routing, structured output, tool-use agent, truthful guardrail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Docker: Dockerfiles + compose, clean start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803D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</a:rPr>
                        <a:t>3 services, healthcheck gate, docker compose up --build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I'd do next  ·  How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  <a:latin typeface="Calibri"/>
              </a:rPr>
              <a:t>If I had two more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A Chrome extension that maps my profile onto a job form's fields via a /autofill/map Claude endpoint — the SAFE version of auto-apply (review-and-submit, your data, your click).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Real recruiter data through a licensed API (Apollo / People Data Labs) with proper consent + opt-out handling.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• Multi-user auth + streaming AI responses.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06240"/>
            <a:ext cx="11247120" cy="2011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789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Run it (the graded path)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1.  Put ANTHROPIC_API_KEY in backend/.env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2.  docker compose up --build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3.  Open http://localhost:3000  (API docs at :8000/docs)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Auto-seeds a full demo on first run; data persists across restarts via the pgdata volume.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